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57" r:id="rId4"/>
    <p:sldId id="258" r:id="rId5"/>
    <p:sldId id="259" r:id="rId6"/>
    <p:sldId id="260" r:id="rId7"/>
    <p:sldId id="271" r:id="rId8"/>
    <p:sldId id="262" r:id="rId9"/>
    <p:sldId id="263" r:id="rId10"/>
    <p:sldId id="264" r:id="rId11"/>
    <p:sldId id="265" r:id="rId12"/>
    <p:sldId id="266" r:id="rId13"/>
    <p:sldId id="261" r:id="rId14"/>
    <p:sldId id="267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523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B3F7A">
              <a:alpha val="30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B06A9E">
              <a:alpha val="2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5303520" y="182880"/>
            <a:ext cx="4114800" cy="4114800"/>
          </a:xfrm>
          <a:prstGeom prst="ellipse">
            <a:avLst/>
          </a:prstGeom>
          <a:solidFill>
            <a:srgbClr val="7B3F7A">
              <a:alpha val="40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669280" y="457200"/>
            <a:ext cx="3474720" cy="3474720"/>
          </a:xfrm>
          <a:prstGeom prst="ellipse">
            <a:avLst/>
          </a:prstGeom>
          <a:solidFill>
            <a:srgbClr val="B06A9E">
              <a:alpha val="3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B06A9E">
              <a:alpha val="70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&amp; SAMPLING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Pengaruh Pola Hidup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D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terhadap Tingkat Nyeri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Menstruasi pada Mahasiswi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1097280" cy="45720"/>
          </a:xfrm>
          <a:prstGeom prst="rect">
            <a:avLst/>
          </a:prstGeom>
          <a:solidFill>
            <a:srgbClr val="B06A9E"/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103 Responden  ·  Purposive &amp; Convenience Sampling  ·  Google 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7B3F7A">
              <a:alpha val="6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23160" y="406908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7B3F7A">
              <a:alpha val="6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2423160" y="40690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97,1%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Nyeri Haid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406908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7B3F7A">
              <a:alpha val="6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389120" y="40690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B3F7A">
              <a:alpha val="30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B06A9E">
              <a:alpha val="2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 PENELITI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Anggota Kelompok 6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7B3F7A">
              <a:alpha val="5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621792" y="1709928"/>
            <a:ext cx="804672" cy="80467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621792" y="17099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554480" y="163677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Kayla Aprilia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20391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52250057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23317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[Peran / Tugas: Design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Design PPT, Isi PPT,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Kesimpulan]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15087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7B3F7A">
              <a:alpha val="5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3"/>
          <p:cNvSpPr/>
          <p:nvPr/>
        </p:nvSpPr>
        <p:spPr>
          <a:xfrm>
            <a:off x="5010912" y="1709928"/>
            <a:ext cx="804672" cy="80467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5010912" y="17099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943600" y="163677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Raihania Syah Putri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0" y="20391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52250054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23317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[Peran / Tugas: Tujuan,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Populasi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Sampel, Design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953512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7B3F7A">
              <a:alpha val="5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19"/>
          <p:cNvSpPr/>
          <p:nvPr/>
        </p:nvSpPr>
        <p:spPr>
          <a:xfrm>
            <a:off x="621792" y="3154680"/>
            <a:ext cx="804672" cy="80467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0"/>
          <p:cNvSpPr/>
          <p:nvPr/>
        </p:nvSpPr>
        <p:spPr>
          <a:xfrm>
            <a:off x="621792" y="31546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554480" y="3081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Chricyesia Winnerlady F. Uvas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554480" y="348386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52250075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54480" y="37764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[Peran /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Design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Isi PPT, Metode Sampling]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46320" y="2953512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7B3F7A">
              <a:alpha val="5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5"/>
          <p:cNvSpPr/>
          <p:nvPr/>
        </p:nvSpPr>
        <p:spPr>
          <a:xfrm>
            <a:off x="5010912" y="3154680"/>
            <a:ext cx="804672" cy="80467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6"/>
          <p:cNvSpPr/>
          <p:nvPr/>
        </p:nvSpPr>
        <p:spPr>
          <a:xfrm>
            <a:off x="5010912" y="31546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5943600" y="3081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Dameria Adelina Mini Simarmata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943600" y="348386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52250011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943600" y="37764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[Peran /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 dirty="0" err="1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</a:t>
            </a:r>
            <a:r>
              <a:rPr lang="en-US" sz="1100" i="1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Tujuan, Daftar Pustaka]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TUJUAN SURVEI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Survei Ini Dilakukan?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65760" y="1463040"/>
            <a:ext cx="54864" cy="3200400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54864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dilakukan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hidup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menstruasi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dismenore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pada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meliputi</a:t>
            </a:r>
            <a:r>
              <a:rPr lang="en-US" sz="13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57860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menstruasi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dialami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menstruasi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tidur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menstruasi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olahraga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pengurangan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menstruasi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hidup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dianggap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paling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berpengaruh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menstruasi</a:t>
            </a:r>
            <a:r>
              <a:rPr lang="en-US" sz="12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426464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4526280" y="1709928"/>
            <a:ext cx="475488" cy="475488"/>
          </a:xfrm>
          <a:prstGeom prst="ellipse">
            <a:avLst/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013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84064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84064" y="18470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berbasis data mengenai faktor pola hidup yang berpengaruh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89120" y="2615184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4"/>
          <p:cNvSpPr/>
          <p:nvPr/>
        </p:nvSpPr>
        <p:spPr>
          <a:xfrm>
            <a:off x="4526280" y="2898648"/>
            <a:ext cx="475488" cy="475488"/>
          </a:xfrm>
          <a:prstGeom prst="ellipse">
            <a:avLst/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99008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4064" y="2724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84064" y="3035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edukasi kesehatan reproduksi bagi mahasiswi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89120" y="3803904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18"/>
          <p:cNvSpPr/>
          <p:nvPr/>
        </p:nvSpPr>
        <p:spPr>
          <a:xfrm>
            <a:off x="4526280" y="4087368"/>
            <a:ext cx="475488" cy="475488"/>
          </a:xfrm>
          <a:prstGeom prst="ellipse">
            <a:avLst/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17880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84064" y="3913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Kesadaran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084064" y="42245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Mendorong gaya hidup sehat dalam manajemen nyeri menstruasi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59" y="201168"/>
            <a:ext cx="2108499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POPULASI &amp; SAMPEL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Populasi</a:t>
            </a:r>
            <a:r>
              <a:rPr lang="en-US" sz="24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  <a:r>
              <a:rPr lang="en-US" sz="2400" b="1" dirty="0" err="1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Mahasiswi</a:t>
            </a:r>
            <a:r>
              <a:rPr lang="en-US" sz="24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Yang </a:t>
            </a:r>
            <a:r>
              <a:rPr lang="en-US" sz="2400" b="1" dirty="0" err="1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Mengalami</a:t>
            </a:r>
            <a:r>
              <a:rPr lang="en-US" sz="24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Menstruasi</a:t>
            </a:r>
            <a:r>
              <a:rPr lang="en-US" sz="24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65760" y="1444752"/>
            <a:ext cx="2606040" cy="1207008"/>
          </a:xfrm>
          <a:prstGeom prst="roundRect">
            <a:avLst>
              <a:gd name="adj" fmla="val 9091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365760" y="1554480"/>
            <a:ext cx="26060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38912" y="2144817"/>
            <a:ext cx="2459736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Responden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444752"/>
            <a:ext cx="2606040" cy="1207008"/>
          </a:xfrm>
          <a:prstGeom prst="roundRect">
            <a:avLst>
              <a:gd name="adj" fmla="val 9091"/>
            </a:avLst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3200400" y="1554480"/>
            <a:ext cx="26060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±9,65%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273552" y="2144817"/>
            <a:ext cx="2459736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Error (CI 95%)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444752"/>
            <a:ext cx="2606040" cy="1207008"/>
          </a:xfrm>
          <a:prstGeom prst="roundRect">
            <a:avLst>
              <a:gd name="adj" fmla="val 9091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6035040" y="1554480"/>
            <a:ext cx="26060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108192" y="2144817"/>
            <a:ext cx="2459736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Sampel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66359" y="326771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(71.8%)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66359" y="367919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(21.4%)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166359" y="409067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(4.9%)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166359" y="450215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(1.9%)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63439" y="2856230"/>
            <a:ext cx="4023360" cy="2029968"/>
          </a:xfrm>
          <a:prstGeom prst="roundRect">
            <a:avLst>
              <a:gd name="adj" fmla="val 5405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6" name="Text 33"/>
          <p:cNvSpPr/>
          <p:nvPr/>
        </p:nvSpPr>
        <p:spPr>
          <a:xfrm>
            <a:off x="4754879" y="294767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Margin of Error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754879" y="331343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 = Z × √(p × q / n)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754879" y="3901948"/>
            <a:ext cx="1508760" cy="69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1,96  ·  p = 0,5  ·  n = 103
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= </a:t>
            </a: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±9,65%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(CI 95%)</a:t>
            </a:r>
            <a:endParaRPr lang="en-US" sz="12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A87ADCA2-CEA5-43CE-046D-FB3AD60EB52B}"/>
              </a:ext>
            </a:extLst>
          </p:cNvPr>
          <p:cNvSpPr/>
          <p:nvPr/>
        </p:nvSpPr>
        <p:spPr>
          <a:xfrm>
            <a:off x="868681" y="325755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(71.8%)</a:t>
            </a:r>
            <a:endParaRPr lang="en-US" sz="1100" dirty="0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C55D5F03-A17B-8BD4-7D20-F2D12706B03F}"/>
              </a:ext>
            </a:extLst>
          </p:cNvPr>
          <p:cNvSpPr/>
          <p:nvPr/>
        </p:nvSpPr>
        <p:spPr>
          <a:xfrm>
            <a:off x="868681" y="36690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(21.4%)</a:t>
            </a:r>
            <a:endParaRPr lang="en-US" sz="1100" dirty="0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FDD024D7-E171-7F7F-93E6-7F0AE95BD609}"/>
              </a:ext>
            </a:extLst>
          </p:cNvPr>
          <p:cNvSpPr/>
          <p:nvPr/>
        </p:nvSpPr>
        <p:spPr>
          <a:xfrm>
            <a:off x="868681" y="408051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(4.9%)</a:t>
            </a:r>
            <a:endParaRPr lang="en-US" sz="1100" dirty="0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128A1A81-195D-D2FD-207C-388E2CD939CE}"/>
              </a:ext>
            </a:extLst>
          </p:cNvPr>
          <p:cNvSpPr/>
          <p:nvPr/>
        </p:nvSpPr>
        <p:spPr>
          <a:xfrm>
            <a:off x="868681" y="449199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(1.9%)</a:t>
            </a:r>
            <a:endParaRPr lang="en-US" sz="1100" dirty="0"/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12047042-1C7B-9FC4-F51C-42273598F445}"/>
              </a:ext>
            </a:extLst>
          </p:cNvPr>
          <p:cNvSpPr/>
          <p:nvPr/>
        </p:nvSpPr>
        <p:spPr>
          <a:xfrm>
            <a:off x="365761" y="2846070"/>
            <a:ext cx="4023360" cy="2029968"/>
          </a:xfrm>
          <a:prstGeom prst="roundRect">
            <a:avLst>
              <a:gd name="adj" fmla="val 5405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143E295F-7E4C-EF14-02D5-B30B27E592D8}"/>
              </a:ext>
            </a:extLst>
          </p:cNvPr>
          <p:cNvSpPr/>
          <p:nvPr/>
        </p:nvSpPr>
        <p:spPr>
          <a:xfrm>
            <a:off x="457201" y="293751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</a:t>
            </a:r>
            <a:r>
              <a:rPr lang="en-US" sz="1300" b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</a:t>
            </a:r>
            <a:r>
              <a:rPr lang="en-US" sz="1300" b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Sampel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 34">
                <a:extLst>
                  <a:ext uri="{FF2B5EF4-FFF2-40B4-BE49-F238E27FC236}">
                    <a16:creationId xmlns:a16="http://schemas.microsoft.com/office/drawing/2014/main" id="{3ACF2FFA-CA46-0D92-1254-E6F3EBA93E36}"/>
                  </a:ext>
                </a:extLst>
              </p:cNvPr>
              <p:cNvSpPr/>
              <p:nvPr/>
            </p:nvSpPr>
            <p:spPr>
              <a:xfrm>
                <a:off x="457201" y="3303270"/>
                <a:ext cx="16459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5" name="Text 34">
                <a:extLst>
                  <a:ext uri="{FF2B5EF4-FFF2-40B4-BE49-F238E27FC236}">
                    <a16:creationId xmlns:a16="http://schemas.microsoft.com/office/drawing/2014/main" id="{3ACF2FFA-CA46-0D92-1254-E6F3EBA93E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3303270"/>
                <a:ext cx="1645920" cy="384048"/>
              </a:xfrm>
              <a:prstGeom prst="rect">
                <a:avLst/>
              </a:prstGeom>
              <a:blipFill>
                <a:blip r:embed="rId4"/>
                <a:stretch>
                  <a:fillRect l="-1481" t="-6349" b="-14286"/>
                </a:stretch>
              </a:blipFill>
              <a:ln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 35">
                <a:extLst>
                  <a:ext uri="{FF2B5EF4-FFF2-40B4-BE49-F238E27FC236}">
                    <a16:creationId xmlns:a16="http://schemas.microsoft.com/office/drawing/2014/main" id="{2EFFD164-5E78-172F-6900-9B6D0B6D00C7}"/>
                  </a:ext>
                </a:extLst>
              </p:cNvPr>
              <p:cNvSpPr/>
              <p:nvPr/>
            </p:nvSpPr>
            <p:spPr>
              <a:xfrm>
                <a:off x="438912" y="3843020"/>
                <a:ext cx="1664209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ID" sz="1200" dirty="0">
                    <a:solidFill>
                      <a:schemeClr val="bg1"/>
                    </a:solidFill>
                  </a:rPr>
                  <a:t>Z = 1,96 • p = 0,5 • e = 0,1</a:t>
                </a:r>
              </a:p>
              <a:p>
                <a:pPr algn="ctr"/>
                <a:endParaRPr lang="en-ID" sz="12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≈96.04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</a:rPr>
                  <a:t>  (</a:t>
                </a:r>
                <a:r>
                  <a:rPr lang="en-ID" sz="1200" dirty="0">
                    <a:solidFill>
                      <a:schemeClr val="bg1"/>
                    </a:solidFill>
                  </a:rPr>
                  <a:t>Minimal </a:t>
                </a:r>
                <a:r>
                  <a:rPr lang="en-ID" sz="1200" dirty="0" err="1">
                    <a:solidFill>
                      <a:schemeClr val="bg1"/>
                    </a:solidFill>
                  </a:rPr>
                  <a:t>sampel</a:t>
                </a:r>
                <a:r>
                  <a:rPr lang="en-ID" sz="1200" dirty="0">
                    <a:solidFill>
                      <a:schemeClr val="bg1"/>
                    </a:solidFill>
                  </a:rPr>
                  <a:t> yang </a:t>
                </a:r>
                <a:r>
                  <a:rPr lang="en-ID" sz="1200" dirty="0" err="1">
                    <a:solidFill>
                      <a:schemeClr val="bg1"/>
                    </a:solidFill>
                  </a:rPr>
                  <a:t>dibutuhkan</a:t>
                </a:r>
                <a:r>
                  <a:rPr lang="en-ID" sz="1200" dirty="0">
                    <a:solidFill>
                      <a:schemeClr val="bg1"/>
                    </a:solidFill>
                  </a:rPr>
                  <a:t>)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6" name="Text 35">
                <a:extLst>
                  <a:ext uri="{FF2B5EF4-FFF2-40B4-BE49-F238E27FC236}">
                    <a16:creationId xmlns:a16="http://schemas.microsoft.com/office/drawing/2014/main" id="{2EFFD164-5E78-172F-6900-9B6D0B6D0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3843020"/>
                <a:ext cx="1664209" cy="822960"/>
              </a:xfrm>
              <a:prstGeom prst="rect">
                <a:avLst/>
              </a:prstGeom>
              <a:blipFill>
                <a:blip r:embed="rId5"/>
                <a:stretch>
                  <a:fillRect l="-4029" t="-5926" r="-4396" b="-741"/>
                </a:stretch>
              </a:blipFill>
              <a:ln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Kotak Teks 19">
            <a:extLst>
              <a:ext uri="{FF2B5EF4-FFF2-40B4-BE49-F238E27FC236}">
                <a16:creationId xmlns:a16="http://schemas.microsoft.com/office/drawing/2014/main" id="{5070B779-085B-B8FD-EF04-E621D4BB0E6B}"/>
              </a:ext>
            </a:extLst>
          </p:cNvPr>
          <p:cNvSpPr txBox="1"/>
          <p:nvPr/>
        </p:nvSpPr>
        <p:spPr>
          <a:xfrm>
            <a:off x="2240279" y="3257550"/>
            <a:ext cx="20065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Z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nilai</a:t>
            </a:r>
            <a:r>
              <a:rPr lang="en-US" sz="1000" dirty="0">
                <a:solidFill>
                  <a:schemeClr val="bg1"/>
                </a:solidFill>
              </a:rPr>
              <a:t> Tingkat </a:t>
            </a:r>
            <a:r>
              <a:rPr lang="en-US" sz="1000" dirty="0" err="1">
                <a:solidFill>
                  <a:schemeClr val="bg1"/>
                </a:solidFill>
              </a:rPr>
              <a:t>kepercayaan</a:t>
            </a:r>
            <a:r>
              <a:rPr lang="en-US" sz="1000" dirty="0">
                <a:solidFill>
                  <a:schemeClr val="bg1"/>
                </a:solidFill>
              </a:rPr>
              <a:t> (95% = 1,96)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P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proporsi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populasi</a:t>
            </a:r>
            <a:r>
              <a:rPr lang="en-US" sz="1000" dirty="0">
                <a:solidFill>
                  <a:schemeClr val="bg1"/>
                </a:solidFill>
              </a:rPr>
              <a:t> yang </a:t>
            </a:r>
            <a:r>
              <a:rPr lang="en-US" sz="1000" dirty="0" err="1">
                <a:solidFill>
                  <a:schemeClr val="bg1"/>
                </a:solidFill>
              </a:rPr>
              <a:t>diasumsikan</a:t>
            </a:r>
            <a:r>
              <a:rPr lang="en-US" sz="1000" dirty="0">
                <a:solidFill>
                  <a:schemeClr val="bg1"/>
                </a:solidFill>
              </a:rPr>
              <a:t> (0,5)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E</a:t>
            </a:r>
            <a:r>
              <a:rPr lang="en-US" sz="1000" dirty="0">
                <a:solidFill>
                  <a:schemeClr val="bg1"/>
                </a:solidFill>
              </a:rPr>
              <a:t> = batas </a:t>
            </a:r>
            <a:r>
              <a:rPr lang="en-US" sz="1000" dirty="0" err="1">
                <a:solidFill>
                  <a:schemeClr val="bg1"/>
                </a:solidFill>
              </a:rPr>
              <a:t>kesalahan</a:t>
            </a:r>
            <a:r>
              <a:rPr lang="en-US" sz="1000" dirty="0">
                <a:solidFill>
                  <a:schemeClr val="bg1"/>
                </a:solidFill>
              </a:rPr>
              <a:t> (</a:t>
            </a:r>
            <a:r>
              <a:rPr lang="en-US" sz="1000" dirty="0" err="1">
                <a:solidFill>
                  <a:schemeClr val="bg1"/>
                </a:solidFill>
              </a:rPr>
              <a:t>MoE</a:t>
            </a:r>
            <a:r>
              <a:rPr lang="en-US" sz="1000" dirty="0">
                <a:solidFill>
                  <a:schemeClr val="bg1"/>
                </a:solidFill>
              </a:rPr>
              <a:t>) yang </a:t>
            </a:r>
            <a:r>
              <a:rPr lang="en-US" sz="1000" dirty="0" err="1">
                <a:solidFill>
                  <a:schemeClr val="bg1"/>
                </a:solidFill>
              </a:rPr>
              <a:t>diterapkan</a:t>
            </a:r>
            <a:r>
              <a:rPr lang="en-US" sz="1000" dirty="0">
                <a:solidFill>
                  <a:schemeClr val="bg1"/>
                </a:solidFill>
              </a:rPr>
              <a:t> (10%)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N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jumlah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sampel</a:t>
            </a:r>
            <a:r>
              <a:rPr lang="en-US" sz="1000" dirty="0">
                <a:solidFill>
                  <a:schemeClr val="bg1"/>
                </a:solidFill>
              </a:rPr>
              <a:t> minimum yang </a:t>
            </a:r>
            <a:r>
              <a:rPr lang="en-US" sz="1000" dirty="0" err="1">
                <a:solidFill>
                  <a:schemeClr val="bg1"/>
                </a:solidFill>
              </a:rPr>
              <a:t>dibutuhkan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Kotak Teks 23">
            <a:extLst>
              <a:ext uri="{FF2B5EF4-FFF2-40B4-BE49-F238E27FC236}">
                <a16:creationId xmlns:a16="http://schemas.microsoft.com/office/drawing/2014/main" id="{9D28CA66-87E9-000E-DAD1-09A12220F3E0}"/>
              </a:ext>
            </a:extLst>
          </p:cNvPr>
          <p:cNvSpPr txBox="1"/>
          <p:nvPr/>
        </p:nvSpPr>
        <p:spPr>
          <a:xfrm>
            <a:off x="6355079" y="3246934"/>
            <a:ext cx="22128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Z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nilai</a:t>
            </a:r>
            <a:r>
              <a:rPr lang="en-US" sz="1000" dirty="0">
                <a:solidFill>
                  <a:schemeClr val="bg1"/>
                </a:solidFill>
              </a:rPr>
              <a:t> Tingkat </a:t>
            </a:r>
            <a:r>
              <a:rPr lang="en-US" sz="1000" dirty="0" err="1">
                <a:solidFill>
                  <a:schemeClr val="bg1"/>
                </a:solidFill>
              </a:rPr>
              <a:t>kepercayaan</a:t>
            </a:r>
            <a:r>
              <a:rPr lang="en-US" sz="1000" dirty="0">
                <a:solidFill>
                  <a:schemeClr val="bg1"/>
                </a:solidFill>
              </a:rPr>
              <a:t> (95% = 1,96)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P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proporsi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populasi</a:t>
            </a:r>
            <a:r>
              <a:rPr lang="en-US" sz="1000" dirty="0">
                <a:solidFill>
                  <a:schemeClr val="bg1"/>
                </a:solidFill>
              </a:rPr>
              <a:t> yang </a:t>
            </a:r>
            <a:r>
              <a:rPr lang="en-US" sz="1000" dirty="0" err="1">
                <a:solidFill>
                  <a:schemeClr val="bg1"/>
                </a:solidFill>
              </a:rPr>
              <a:t>diasumsikan</a:t>
            </a:r>
            <a:r>
              <a:rPr lang="en-US" sz="1000" dirty="0">
                <a:solidFill>
                  <a:schemeClr val="bg1"/>
                </a:solidFill>
              </a:rPr>
              <a:t> (0,5)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Q</a:t>
            </a:r>
            <a:r>
              <a:rPr lang="en-US" sz="1000" dirty="0">
                <a:solidFill>
                  <a:schemeClr val="bg1"/>
                </a:solidFill>
              </a:rPr>
              <a:t> = 1 – p (0,5)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N</a:t>
            </a:r>
            <a:r>
              <a:rPr lang="en-US" sz="1000" dirty="0">
                <a:solidFill>
                  <a:schemeClr val="bg1"/>
                </a:solidFill>
              </a:rPr>
              <a:t> = </a:t>
            </a:r>
            <a:r>
              <a:rPr lang="en-US" sz="1000" dirty="0" err="1">
                <a:solidFill>
                  <a:schemeClr val="bg1"/>
                </a:solidFill>
              </a:rPr>
              <a:t>jumlah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responden</a:t>
            </a:r>
            <a:r>
              <a:rPr lang="en-US" sz="1000" dirty="0">
                <a:solidFill>
                  <a:schemeClr val="bg1"/>
                </a:solidFill>
              </a:rPr>
              <a:t> yang </a:t>
            </a:r>
            <a:r>
              <a:rPr lang="en-US" sz="1000" dirty="0" err="1">
                <a:solidFill>
                  <a:schemeClr val="bg1"/>
                </a:solidFill>
              </a:rPr>
              <a:t>diperoleh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b="1" dirty="0" err="1">
                <a:solidFill>
                  <a:schemeClr val="bg1"/>
                </a:solidFill>
              </a:rPr>
              <a:t>MoE</a:t>
            </a:r>
            <a:r>
              <a:rPr lang="en-US" sz="1000" dirty="0">
                <a:solidFill>
                  <a:schemeClr val="bg1"/>
                </a:solidFill>
              </a:rPr>
              <a:t> = Tingkat </a:t>
            </a:r>
            <a:r>
              <a:rPr lang="en-US" sz="1000" dirty="0" err="1">
                <a:solidFill>
                  <a:schemeClr val="bg1"/>
                </a:solidFill>
              </a:rPr>
              <a:t>kesalahan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pengambilan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sampel</a:t>
            </a:r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B3F7A">
              <a:alpha val="30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B06A9E">
              <a:alpha val="2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METODE SAMPLING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Non-Probability Sampling 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(Purposive &amp; Convenience)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36576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Purposive Sampling?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872742"/>
            <a:ext cx="256032" cy="25603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365760" y="18727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182702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harus memiliki kriteria spesifik: mahasiswi aktif yang menstruasi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247646"/>
            <a:ext cx="256032" cy="25603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365760" y="22476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220192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 untuk populasi dengan karakteristik tertentu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2622550"/>
            <a:ext cx="256032" cy="25603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365760" y="26225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257683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digunakan ketika populasi sulit diidentifikasi secara acak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 Pengumpulan Data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54880" y="188366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4864608" y="18836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0" y="188366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(kuesioner daring)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252374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1"/>
          <p:cNvSpPr/>
          <p:nvPr/>
        </p:nvSpPr>
        <p:spPr>
          <a:xfrm>
            <a:off x="4864608" y="25237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26480" y="252374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16382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4864608" y="31638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26480" y="316382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butir | Pilihan ganda &amp; isian singkat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380390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7"/>
          <p:cNvSpPr/>
          <p:nvPr/>
        </p:nvSpPr>
        <p:spPr>
          <a:xfrm>
            <a:off x="4864608" y="38039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0" y="380390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1-5 (nyeri &amp; kualitas tidur)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Kotak Teks 34">
            <a:extLst>
              <a:ext uri="{FF2B5EF4-FFF2-40B4-BE49-F238E27FC236}">
                <a16:creationId xmlns:a16="http://schemas.microsoft.com/office/drawing/2014/main" id="{6DF88614-148A-6BC0-30F6-745D66CEAFF8}"/>
              </a:ext>
            </a:extLst>
          </p:cNvPr>
          <p:cNvSpPr txBox="1"/>
          <p:nvPr/>
        </p:nvSpPr>
        <p:spPr>
          <a:xfrm>
            <a:off x="313690" y="3048071"/>
            <a:ext cx="5264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</a:t>
            </a:r>
            <a:r>
              <a:rPr lang="en-US" sz="1400" b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Convenience Sampling?</a:t>
            </a:r>
            <a:endParaRPr lang="en-US" sz="14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0DAB824E-C524-F5B4-6134-A9C5D39D215E}"/>
              </a:ext>
            </a:extLst>
          </p:cNvPr>
          <p:cNvSpPr/>
          <p:nvPr/>
        </p:nvSpPr>
        <p:spPr>
          <a:xfrm>
            <a:off x="365760" y="3404504"/>
            <a:ext cx="256032" cy="25603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A5811B6D-A784-D4DC-F58E-5F13E268845C}"/>
              </a:ext>
            </a:extLst>
          </p:cNvPr>
          <p:cNvSpPr/>
          <p:nvPr/>
        </p:nvSpPr>
        <p:spPr>
          <a:xfrm>
            <a:off x="365760" y="3404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FBFD1E59-991F-C215-1D9F-9E02A304F905}"/>
              </a:ext>
            </a:extLst>
          </p:cNvPr>
          <p:cNvSpPr/>
          <p:nvPr/>
        </p:nvSpPr>
        <p:spPr>
          <a:xfrm>
            <a:off x="724916" y="32506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diambil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kemudahan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02A99089-2B9E-AC1A-3F02-518B7BE48287}"/>
              </a:ext>
            </a:extLst>
          </p:cNvPr>
          <p:cNvSpPr/>
          <p:nvPr/>
        </p:nvSpPr>
        <p:spPr>
          <a:xfrm>
            <a:off x="365760" y="3779408"/>
            <a:ext cx="256032" cy="25603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23003278-0A45-CFB6-963A-DC57DE763C6D}"/>
              </a:ext>
            </a:extLst>
          </p:cNvPr>
          <p:cNvSpPr/>
          <p:nvPr/>
        </p:nvSpPr>
        <p:spPr>
          <a:xfrm>
            <a:off x="365760" y="3779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81B8444-5CE0-AF3B-F2FE-DF157AC58419}"/>
              </a:ext>
            </a:extLst>
          </p:cNvPr>
          <p:cNvSpPr/>
          <p:nvPr/>
        </p:nvSpPr>
        <p:spPr>
          <a:xfrm>
            <a:off x="731520" y="3677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FED126E2-82DB-C071-7EFC-F1701D7232FD}"/>
              </a:ext>
            </a:extLst>
          </p:cNvPr>
          <p:cNvSpPr/>
          <p:nvPr/>
        </p:nvSpPr>
        <p:spPr>
          <a:xfrm>
            <a:off x="365760" y="4154312"/>
            <a:ext cx="256032" cy="256032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D4039350-65FE-6718-68B8-C18785840D3A}"/>
              </a:ext>
            </a:extLst>
          </p:cNvPr>
          <p:cNvSpPr/>
          <p:nvPr/>
        </p:nvSpPr>
        <p:spPr>
          <a:xfrm>
            <a:off x="365760" y="4154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Kotak Teks 44">
            <a:extLst>
              <a:ext uri="{FF2B5EF4-FFF2-40B4-BE49-F238E27FC236}">
                <a16:creationId xmlns:a16="http://schemas.microsoft.com/office/drawing/2014/main" id="{9EB1FD5E-C770-B2E4-6C97-1B9AA41DACEA}"/>
              </a:ext>
            </a:extLst>
          </p:cNvPr>
          <p:cNvSpPr txBox="1"/>
          <p:nvPr/>
        </p:nvSpPr>
        <p:spPr>
          <a:xfrm>
            <a:off x="635508" y="4140688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dijangkau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2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digital.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994198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7" y="201168"/>
            <a:ext cx="16101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PERTANYAAN SURVEI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Bagian — 21 Pertanyaan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65760" y="1481328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5720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904488" y="1792224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DD3E8"/>
          </a:solidFill>
          <a:ln w="12700">
            <a:solidFill>
              <a:srgbClr val="EDD3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3904488" y="17922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" y="15727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Menstruasi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24128" y="19385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usia, pengalaman, tingkat &amp; frekuensi nyeri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596896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45720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904488" y="2907792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DD3E8"/>
          </a:solidFill>
          <a:ln w="12700">
            <a:solidFill>
              <a:srgbClr val="EDD3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3904488" y="29077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Q7–10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4128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Makan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24128" y="305409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Gizi seimbang, frekuensi fast food, buah &amp; sayur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712464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Shape 21"/>
          <p:cNvSpPr/>
          <p:nvPr/>
        </p:nvSpPr>
        <p:spPr>
          <a:xfrm>
            <a:off x="457200" y="38587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457200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904488" y="40233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DD3E8"/>
          </a:solidFill>
          <a:ln w="12700">
            <a:solidFill>
              <a:srgbClr val="EDD3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3904488" y="40233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Q11–14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24128" y="380390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&amp; Durasi Tidur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24128" y="416966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 tidur harian, kualitas tidur, perubahan saat haid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1481328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8"/>
          <p:cNvSpPr/>
          <p:nvPr/>
        </p:nvSpPr>
        <p:spPr>
          <a:xfrm>
            <a:off x="4937760" y="16276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493776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385048" y="1792224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DD3E8"/>
          </a:solidFill>
          <a:ln w="12700">
            <a:solidFill>
              <a:srgbClr val="EDD3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1"/>
          <p:cNvSpPr/>
          <p:nvPr/>
        </p:nvSpPr>
        <p:spPr>
          <a:xfrm>
            <a:off x="8385048" y="17922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Q15–18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04688" y="15727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Fisik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504688" y="19385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 &amp; jenis olahraga, persepsi manfaat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46320" y="2596896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8" name="Shape 35"/>
          <p:cNvSpPr/>
          <p:nvPr/>
        </p:nvSpPr>
        <p:spPr>
          <a:xfrm>
            <a:off x="4937760" y="2743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6"/>
          <p:cNvSpPr/>
          <p:nvPr/>
        </p:nvSpPr>
        <p:spPr>
          <a:xfrm>
            <a:off x="493776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8385048" y="2779776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DD3E8"/>
          </a:solidFill>
          <a:ln w="12700">
            <a:solidFill>
              <a:srgbClr val="EDD3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8"/>
          <p:cNvSpPr/>
          <p:nvPr/>
        </p:nvSpPr>
        <p:spPr>
          <a:xfrm>
            <a:off x="8385048" y="27878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Q19–21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504688" y="26883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Persepsi Pola Hidup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504688" y="30540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 pola hidup, upaya sehat, faktor utama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/>
          <p:nvPr/>
        </p:nvSpPr>
        <p:spPr>
          <a:xfrm>
            <a:off x="228600" y="80000"/>
            <a:ext cx="2000000" cy="250000"/>
          </a:xfrm>
          <a:prstGeom prst="roundRect">
            <a:avLst/>
          </a:prstGeom>
          <a:solidFill>
            <a:srgbClr val="6B2D6B"/>
          </a:solidFill>
          <a:ln>
            <a:noFill/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FFFFFF"/>
                </a:solidFill>
              </a:rPr>
              <a:t>05  VISUALISASI DATA</a:t>
            </a:r>
          </a:p>
        </p:txBody>
      </p:sp>
      <p:sp>
        <p:nvSpPr>
          <p:cNvPr id="4" name="Title"/>
          <p:cNvSpPr/>
          <p:nvPr/>
        </p:nvSpPr>
        <p:spPr>
          <a:xfrm>
            <a:off x="304800" y="470000"/>
            <a:ext cx="8534400" cy="400000"/>
          </a:xfrm>
          <a:prstGeom prst="rect">
            <a:avLst/>
          </a:prstGeom>
          <a:noFill/>
        </p:spPr>
        <p:txBody>
          <a:bodyPr/>
          <a:lstStyle/>
          <a:p>
            <a:endParaRPr lang="id-ID" sz="2400" b="1" dirty="0">
              <a:solidFill>
                <a:srgbClr val="4A1942"/>
              </a:solidFill>
            </a:endParaRPr>
          </a:p>
        </p:txBody>
      </p:sp>
      <p:sp>
        <p:nvSpPr>
          <p:cNvPr id="6" name="Label1"/>
          <p:cNvSpPr/>
          <p:nvPr/>
        </p:nvSpPr>
        <p:spPr>
          <a:xfrm>
            <a:off x="389964" y="2400000"/>
            <a:ext cx="2581235" cy="280000"/>
          </a:xfrm>
          <a:prstGeom prst="rect">
            <a:avLst/>
          </a:prstGeom>
          <a:solidFill>
            <a:srgbClr val="F3E6F1"/>
          </a:solidFill>
          <a:ln w="9525">
            <a:solidFill>
              <a:srgbClr val="C17FB8"/>
            </a:solidFill>
          </a:ln>
        </p:spPr>
        <p:txBody>
          <a:bodyPr anchor="ctr"/>
          <a:lstStyle/>
          <a:p>
            <a:pPr algn="ctr"/>
            <a:r>
              <a:rPr lang="id-ID" sz="1000" b="1" dirty="0">
                <a:solidFill>
                  <a:srgbClr val="4A1942"/>
                </a:solidFill>
              </a:rPr>
              <a:t>Distribusi Tingkat Nyeri Menstruasi</a:t>
            </a:r>
          </a:p>
        </p:txBody>
      </p:sp>
      <p:sp>
        <p:nvSpPr>
          <p:cNvPr id="8" name="Label2"/>
          <p:cNvSpPr/>
          <p:nvPr/>
        </p:nvSpPr>
        <p:spPr>
          <a:xfrm>
            <a:off x="3218999" y="2400000"/>
            <a:ext cx="2781600" cy="280000"/>
          </a:xfrm>
          <a:prstGeom prst="rect">
            <a:avLst/>
          </a:prstGeom>
          <a:solidFill>
            <a:srgbClr val="F3E6F1"/>
          </a:solidFill>
          <a:ln w="9525">
            <a:solidFill>
              <a:srgbClr val="C17FB8"/>
            </a:solidFill>
          </a:ln>
        </p:spPr>
        <p:txBody>
          <a:bodyPr anchor="ctr"/>
          <a:lstStyle/>
          <a:p>
            <a:pPr algn="ctr"/>
            <a:r>
              <a:rPr lang="id-ID" sz="1000" b="1" dirty="0">
                <a:solidFill>
                  <a:srgbClr val="4A1942"/>
                </a:solidFill>
              </a:rPr>
              <a:t>Faktor yang Paling Berpengaruh terhadap Nyeri</a:t>
            </a:r>
          </a:p>
        </p:txBody>
      </p:sp>
      <p:sp>
        <p:nvSpPr>
          <p:cNvPr id="10" name="Label3"/>
          <p:cNvSpPr/>
          <p:nvPr/>
        </p:nvSpPr>
        <p:spPr>
          <a:xfrm>
            <a:off x="6248400" y="2400000"/>
            <a:ext cx="2505635" cy="280000"/>
          </a:xfrm>
          <a:prstGeom prst="rect">
            <a:avLst/>
          </a:prstGeom>
          <a:solidFill>
            <a:srgbClr val="F3E6F1"/>
          </a:solidFill>
          <a:ln w="9525">
            <a:solidFill>
              <a:srgbClr val="C17FB8"/>
            </a:solidFill>
          </a:ln>
        </p:spPr>
        <p:txBody>
          <a:bodyPr anchor="ctr"/>
          <a:lstStyle/>
          <a:p>
            <a:pPr algn="ctr"/>
            <a:r>
              <a:rPr lang="id-ID" sz="1000" b="1" dirty="0">
                <a:solidFill>
                  <a:srgbClr val="4A1942"/>
                </a:solidFill>
              </a:rPr>
              <a:t>Frekuensi Konsumsi Fast Food</a:t>
            </a:r>
          </a:p>
        </p:txBody>
      </p:sp>
      <p:sp>
        <p:nvSpPr>
          <p:cNvPr id="12" name="Footer"/>
          <p:cNvSpPr/>
          <p:nvPr/>
        </p:nvSpPr>
        <p:spPr>
          <a:xfrm>
            <a:off x="228600" y="4750000"/>
            <a:ext cx="8687400" cy="2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endParaRPr lang="id-ID" sz="800" b="0" dirty="0">
              <a:solidFill>
                <a:srgbClr val="9E6B9E"/>
              </a:solidFill>
            </a:endParaRPr>
          </a:p>
        </p:txBody>
      </p:sp>
      <p:sp>
        <p:nvSpPr>
          <p:cNvPr id="14" name="Label1">
            <a:extLst>
              <a:ext uri="{FF2B5EF4-FFF2-40B4-BE49-F238E27FC236}">
                <a16:creationId xmlns:a16="http://schemas.microsoft.com/office/drawing/2014/main" id="{83C44FF3-2A5D-80B8-5985-04E1F199624C}"/>
              </a:ext>
            </a:extLst>
          </p:cNvPr>
          <p:cNvSpPr/>
          <p:nvPr/>
        </p:nvSpPr>
        <p:spPr>
          <a:xfrm>
            <a:off x="1216959" y="4720000"/>
            <a:ext cx="2897841" cy="280000"/>
          </a:xfrm>
          <a:prstGeom prst="rect">
            <a:avLst/>
          </a:prstGeom>
          <a:solidFill>
            <a:srgbClr val="F3E6F1"/>
          </a:solidFill>
          <a:ln w="9525">
            <a:solidFill>
              <a:srgbClr val="C17FB8"/>
            </a:solidFill>
          </a:ln>
        </p:spPr>
        <p:txBody>
          <a:bodyPr anchor="ctr"/>
          <a:lstStyle/>
          <a:p>
            <a:pPr algn="ctr"/>
            <a:r>
              <a:rPr lang="id-ID" sz="1000" b="1" dirty="0">
                <a:solidFill>
                  <a:srgbClr val="4A1942"/>
                </a:solidFill>
              </a:rPr>
              <a:t>Distribusi Durasi Tidur</a:t>
            </a:r>
          </a:p>
        </p:txBody>
      </p:sp>
      <p:sp>
        <p:nvSpPr>
          <p:cNvPr id="16" name="Label2">
            <a:extLst>
              <a:ext uri="{FF2B5EF4-FFF2-40B4-BE49-F238E27FC236}">
                <a16:creationId xmlns:a16="http://schemas.microsoft.com/office/drawing/2014/main" id="{CD01D4E3-2286-CD44-FC96-08C06EDE4022}"/>
              </a:ext>
            </a:extLst>
          </p:cNvPr>
          <p:cNvSpPr/>
          <p:nvPr/>
        </p:nvSpPr>
        <p:spPr>
          <a:xfrm>
            <a:off x="4827493" y="4720000"/>
            <a:ext cx="2897841" cy="280000"/>
          </a:xfrm>
          <a:prstGeom prst="rect">
            <a:avLst/>
          </a:prstGeom>
          <a:solidFill>
            <a:srgbClr val="F3E6F1"/>
          </a:solidFill>
          <a:ln w="9525">
            <a:solidFill>
              <a:srgbClr val="C17FB8"/>
            </a:solidFill>
          </a:ln>
        </p:spPr>
        <p:txBody>
          <a:bodyPr anchor="ctr"/>
          <a:lstStyle/>
          <a:p>
            <a:pPr algn="ctr"/>
            <a:r>
              <a:rPr lang="en-US" sz="1000" b="1" dirty="0" err="1">
                <a:solidFill>
                  <a:srgbClr val="4A1942"/>
                </a:solidFill>
              </a:rPr>
              <a:t>Distribusi</a:t>
            </a:r>
            <a:r>
              <a:rPr lang="en-US" sz="1000" b="1" dirty="0">
                <a:solidFill>
                  <a:srgbClr val="4A1942"/>
                </a:solidFill>
              </a:rPr>
              <a:t> Frekuensi </a:t>
            </a:r>
            <a:r>
              <a:rPr lang="en-US" sz="1000" b="1" dirty="0" err="1">
                <a:solidFill>
                  <a:srgbClr val="4A1942"/>
                </a:solidFill>
              </a:rPr>
              <a:t>Olahraga</a:t>
            </a:r>
            <a:endParaRPr lang="id-ID" sz="1000" b="1" dirty="0">
              <a:solidFill>
                <a:srgbClr val="4A1942"/>
              </a:solidFill>
            </a:endParaRPr>
          </a:p>
        </p:txBody>
      </p:sp>
      <p:pic>
        <p:nvPicPr>
          <p:cNvPr id="11" name="Gambar 10" descr="Sebuah gambar berisi teks, cuplikan layar, diagram, nomor">
            <a:extLst>
              <a:ext uri="{FF2B5EF4-FFF2-40B4-BE49-F238E27FC236}">
                <a16:creationId xmlns:a16="http://schemas.microsoft.com/office/drawing/2014/main" id="{21BF8A33-9693-DFFB-AA5F-38A9F0A2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0" y="470000"/>
            <a:ext cx="2934001" cy="1900000"/>
          </a:xfrm>
          <a:prstGeom prst="rect">
            <a:avLst/>
          </a:prstGeom>
        </p:spPr>
      </p:pic>
      <p:pic>
        <p:nvPicPr>
          <p:cNvPr id="18" name="Gambar 17" descr="Sebuah gambar berisi teks, cuplikan layar, software, deasin">
            <a:extLst>
              <a:ext uri="{FF2B5EF4-FFF2-40B4-BE49-F238E27FC236}">
                <a16:creationId xmlns:a16="http://schemas.microsoft.com/office/drawing/2014/main" id="{E8EB3CA3-F015-684D-96CC-0D8A2F49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70000"/>
            <a:ext cx="2934001" cy="1891750"/>
          </a:xfrm>
          <a:prstGeom prst="rect">
            <a:avLst/>
          </a:prstGeom>
        </p:spPr>
      </p:pic>
      <p:pic>
        <p:nvPicPr>
          <p:cNvPr id="20" name="Gambar 19" descr="Sebuah gambar berisi teks, cuplikan layar, software, diagram">
            <a:extLst>
              <a:ext uri="{FF2B5EF4-FFF2-40B4-BE49-F238E27FC236}">
                <a16:creationId xmlns:a16="http://schemas.microsoft.com/office/drawing/2014/main" id="{7DCF35AF-1F5B-9BB0-FCDF-8CA99C118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848" y="469750"/>
            <a:ext cx="2890352" cy="1883500"/>
          </a:xfrm>
          <a:prstGeom prst="rect">
            <a:avLst/>
          </a:prstGeom>
        </p:spPr>
      </p:pic>
      <p:pic>
        <p:nvPicPr>
          <p:cNvPr id="22" name="Gambar 21" descr="Sebuah gambar berisi teks, cuplikan layar, nomor, diagram">
            <a:extLst>
              <a:ext uri="{FF2B5EF4-FFF2-40B4-BE49-F238E27FC236}">
                <a16:creationId xmlns:a16="http://schemas.microsoft.com/office/drawing/2014/main" id="{27C72B2A-5228-E89C-3421-80DE779DC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799" y="2765000"/>
            <a:ext cx="3449171" cy="1908500"/>
          </a:xfrm>
          <a:prstGeom prst="rect">
            <a:avLst/>
          </a:prstGeom>
        </p:spPr>
      </p:pic>
      <p:pic>
        <p:nvPicPr>
          <p:cNvPr id="26" name="Gambar 25" descr="Sebuah gambar berisi teks, cuplikan layar, diagram, Plot">
            <a:extLst>
              <a:ext uri="{FF2B5EF4-FFF2-40B4-BE49-F238E27FC236}">
                <a16:creationId xmlns:a16="http://schemas.microsoft.com/office/drawing/2014/main" id="{ADEB3085-F0E3-3BE7-D826-C74648E61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528" y="2756500"/>
            <a:ext cx="3449172" cy="191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59" y="201168"/>
            <a:ext cx="2656573" cy="457200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  VISUALISASI — OLAHRAGA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Frekuensi Olahraga &amp; Tingkat Nyeri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6"/>
          <p:cNvSpPr/>
          <p:nvPr/>
        </p:nvSpPr>
        <p:spPr>
          <a:xfrm>
            <a:off x="5577840" y="1444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32704" y="1536192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5632704" y="1536192"/>
            <a:ext cx="54864" cy="768096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5760720" y="1591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1-2x/minggu dominan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60720" y="1883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orang </a:t>
            </a:r>
            <a:r>
              <a:rPr lang="en-US" sz="1100" dirty="0" err="1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3; 20 orang </a:t>
            </a:r>
            <a:r>
              <a:rPr lang="en-US" sz="1100" dirty="0" err="1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32704" y="2432304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2"/>
          <p:cNvSpPr/>
          <p:nvPr/>
        </p:nvSpPr>
        <p:spPr>
          <a:xfrm>
            <a:off x="5632704" y="2432304"/>
            <a:ext cx="54864" cy="768096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576072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olahraga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760720" y="2779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Tersebar merata di nyeri tingkat 3-5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632704" y="3328416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5632704" y="3328416"/>
            <a:ext cx="54864" cy="768096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576072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3-4x/minggu lebih baik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76072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 3 dominan; tidak ada di tingkat 1-2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32704" y="4174236"/>
            <a:ext cx="3291840" cy="870204"/>
          </a:xfrm>
          <a:prstGeom prst="roundRect">
            <a:avLst>
              <a:gd name="adj" fmla="val 21739"/>
            </a:avLst>
          </a:prstGeom>
          <a:solidFill>
            <a:srgbClr val="EDD3E8">
              <a:alpha val="8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430225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71616" y="42656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Interpretasi: </a:t>
            </a:r>
            <a:r>
              <a:rPr lang="en-ID" sz="1100" dirty="0" err="1"/>
              <a:t>Aktivitas</a:t>
            </a:r>
            <a:r>
              <a:rPr lang="en-ID" sz="1100" dirty="0"/>
              <a:t> </a:t>
            </a:r>
            <a:r>
              <a:rPr lang="en-ID" sz="1100" dirty="0" err="1"/>
              <a:t>olahraga</a:t>
            </a:r>
            <a:r>
              <a:rPr lang="en-ID" sz="1100" dirty="0"/>
              <a:t> yang </a:t>
            </a:r>
            <a:r>
              <a:rPr lang="en-ID" sz="1100" dirty="0" err="1"/>
              <a:t>lebih</a:t>
            </a:r>
            <a:r>
              <a:rPr lang="en-ID" sz="1100" dirty="0"/>
              <a:t> rutin </a:t>
            </a:r>
            <a:r>
              <a:rPr lang="en-ID" sz="1100" dirty="0" err="1"/>
              <a:t>berpotensi</a:t>
            </a:r>
            <a:r>
              <a:rPr lang="en-ID" sz="1100" dirty="0"/>
              <a:t> </a:t>
            </a:r>
            <a:r>
              <a:rPr lang="en-ID" sz="1100" dirty="0" err="1"/>
              <a:t>membantu</a:t>
            </a:r>
            <a:r>
              <a:rPr lang="en-ID" sz="1100" dirty="0"/>
              <a:t> </a:t>
            </a:r>
            <a:r>
              <a:rPr lang="en-ID" sz="1100" dirty="0" err="1"/>
              <a:t>mengurangi</a:t>
            </a:r>
            <a:r>
              <a:rPr lang="en-ID" sz="1100" dirty="0"/>
              <a:t> </a:t>
            </a:r>
            <a:r>
              <a:rPr lang="en-ID" sz="1100" dirty="0" err="1"/>
              <a:t>tingkat</a:t>
            </a:r>
            <a:r>
              <a:rPr lang="en-ID" sz="1100" dirty="0"/>
              <a:t> </a:t>
            </a:r>
            <a:r>
              <a:rPr lang="en-ID" sz="1100" dirty="0" err="1"/>
              <a:t>nyeri</a:t>
            </a:r>
            <a:r>
              <a:rPr lang="en-ID" sz="1100" dirty="0"/>
              <a:t>, </a:t>
            </a:r>
            <a:r>
              <a:rPr lang="en-ID" sz="1100" dirty="0" err="1"/>
              <a:t>meskipun</a:t>
            </a:r>
            <a:r>
              <a:rPr lang="en-ID" sz="1100" dirty="0"/>
              <a:t> </a:t>
            </a:r>
            <a:r>
              <a:rPr lang="en-ID" sz="1100" dirty="0" err="1"/>
              <a:t>hubungan</a:t>
            </a:r>
            <a:r>
              <a:rPr lang="en-ID" sz="1100" dirty="0"/>
              <a:t> </a:t>
            </a:r>
            <a:r>
              <a:rPr lang="en-ID" sz="1100" dirty="0" err="1"/>
              <a:t>ini</a:t>
            </a:r>
            <a:r>
              <a:rPr lang="en-ID" sz="1100" dirty="0"/>
              <a:t> </a:t>
            </a:r>
            <a:r>
              <a:rPr lang="en-ID" sz="1100" dirty="0" err="1"/>
              <a:t>belum</a:t>
            </a:r>
            <a:r>
              <a:rPr lang="en-ID" sz="1100" dirty="0"/>
              <a:t> </a:t>
            </a:r>
            <a:r>
              <a:rPr lang="en-ID" sz="1100" dirty="0" err="1"/>
              <a:t>tentu</a:t>
            </a:r>
            <a:r>
              <a:rPr lang="en-ID" sz="1100" dirty="0"/>
              <a:t> </a:t>
            </a:r>
            <a:r>
              <a:rPr lang="en-ID" sz="1100" dirty="0" err="1"/>
              <a:t>bersifat</a:t>
            </a:r>
            <a:r>
              <a:rPr lang="en-ID" sz="1100" dirty="0"/>
              <a:t> </a:t>
            </a:r>
            <a:r>
              <a:rPr lang="en-ID" sz="1100" dirty="0" err="1"/>
              <a:t>sebab-akibat</a:t>
            </a:r>
            <a:r>
              <a:rPr lang="en-ID" sz="1100" dirty="0"/>
              <a:t> </a:t>
            </a:r>
            <a:r>
              <a:rPr lang="en-ID" sz="1100" dirty="0" err="1"/>
              <a:t>langsung</a:t>
            </a:r>
            <a:r>
              <a:rPr lang="en-ID" sz="1100" dirty="0"/>
              <a:t>. </a:t>
            </a:r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27" name="Gambar 26" descr="Sebuah gambar berisi teks, cuplikan layar, diagram, lingkaran">
            <a:extLst>
              <a:ext uri="{FF2B5EF4-FFF2-40B4-BE49-F238E27FC236}">
                <a16:creationId xmlns:a16="http://schemas.microsoft.com/office/drawing/2014/main" id="{5CA50621-51D7-3930-C242-BB03B0C84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536192"/>
            <a:ext cx="5138928" cy="340614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58" y="201168"/>
            <a:ext cx="2791327" cy="374904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6" y="201168"/>
            <a:ext cx="21305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05.2  VISUALISASI — POLA MAKAN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Konsumsi Fast Food &amp; Tingkat Nyeri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6"/>
          <p:cNvSpPr/>
          <p:nvPr/>
        </p:nvSpPr>
        <p:spPr>
          <a:xfrm>
            <a:off x="5577840" y="1444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35932" y="1517904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5635932" y="1517904"/>
            <a:ext cx="54864" cy="768096"/>
          </a:xfrm>
          <a:prstGeom prst="rect">
            <a:avLst/>
          </a:prstGeom>
          <a:solidFill>
            <a:srgbClr val="B06A9E"/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5763948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Kadang-kadang (n=53)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63948" y="18653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 3-5 mendominasi; terbesar pada nyeri 3 (25 orang)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47765" y="2340864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6" name="Shape 12"/>
          <p:cNvSpPr/>
          <p:nvPr/>
        </p:nvSpPr>
        <p:spPr>
          <a:xfrm>
            <a:off x="5632704" y="2340864"/>
            <a:ext cx="54864" cy="768096"/>
          </a:xfrm>
          <a:prstGeom prst="rect">
            <a:avLst/>
          </a:prstGeom>
          <a:solidFill>
            <a:srgbClr val="B06A9E"/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5763948" y="2432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(n=32)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763948" y="2724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nyeri 4 (11 org) &amp; 5 (7 org) lebih tinggi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635932" y="3182112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5632704" y="3188970"/>
            <a:ext cx="54864" cy="768096"/>
          </a:xfrm>
          <a:prstGeom prst="rect">
            <a:avLst/>
          </a:prstGeom>
          <a:solidFill>
            <a:srgbClr val="B06A9E"/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5745660" y="319878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Jarang (n=15)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745660" y="349139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nyeri paling rendah dibanding kelompok lain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44537" y="4030218"/>
            <a:ext cx="3291840" cy="849790"/>
          </a:xfrm>
          <a:prstGeom prst="roundRect">
            <a:avLst>
              <a:gd name="adj" fmla="val 21739"/>
            </a:avLst>
          </a:prstGeom>
          <a:solidFill>
            <a:srgbClr val="EDD3E8">
              <a:alpha val="8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948" y="421538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74844" y="4096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Interpretasi: </a:t>
            </a:r>
            <a:r>
              <a:rPr lang="en-ID" sz="1100" dirty="0"/>
              <a:t>Pola </a:t>
            </a:r>
            <a:r>
              <a:rPr lang="en-ID" sz="1100" dirty="0" err="1"/>
              <a:t>ini</a:t>
            </a:r>
            <a:r>
              <a:rPr lang="en-ID" sz="1100" dirty="0"/>
              <a:t> </a:t>
            </a:r>
            <a:r>
              <a:rPr lang="en-ID" sz="1100" dirty="0" err="1"/>
              <a:t>menunjukkan</a:t>
            </a:r>
            <a:r>
              <a:rPr lang="en-ID" sz="1100" dirty="0"/>
              <a:t> </a:t>
            </a:r>
            <a:r>
              <a:rPr lang="en-ID" sz="1100" dirty="0" err="1"/>
              <a:t>adanya</a:t>
            </a:r>
            <a:r>
              <a:rPr lang="en-ID" sz="1100" dirty="0"/>
              <a:t> </a:t>
            </a:r>
            <a:r>
              <a:rPr lang="en-ID" sz="1100" dirty="0" err="1"/>
              <a:t>hubungan</a:t>
            </a:r>
            <a:r>
              <a:rPr lang="en-ID" sz="1100" dirty="0"/>
              <a:t> </a:t>
            </a:r>
            <a:r>
              <a:rPr lang="en-ID" sz="1100" dirty="0" err="1"/>
              <a:t>antara</a:t>
            </a:r>
            <a:r>
              <a:rPr lang="en-ID" sz="1100" dirty="0"/>
              <a:t> </a:t>
            </a:r>
            <a:r>
              <a:rPr lang="en-ID" sz="1100" dirty="0" err="1"/>
              <a:t>pola</a:t>
            </a:r>
            <a:r>
              <a:rPr lang="en-ID" sz="1100" dirty="0"/>
              <a:t> </a:t>
            </a:r>
            <a:r>
              <a:rPr lang="en-ID" sz="1100" dirty="0" err="1"/>
              <a:t>makan</a:t>
            </a:r>
            <a:r>
              <a:rPr lang="en-ID" sz="1100" dirty="0"/>
              <a:t> </a:t>
            </a:r>
            <a:r>
              <a:rPr lang="en-ID" sz="1100" dirty="0" err="1"/>
              <a:t>kurang</a:t>
            </a:r>
            <a:r>
              <a:rPr lang="en-ID" sz="1100" dirty="0"/>
              <a:t> </a:t>
            </a:r>
            <a:r>
              <a:rPr lang="en-ID" sz="1100" dirty="0" err="1"/>
              <a:t>sehat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peningkatan</a:t>
            </a:r>
            <a:r>
              <a:rPr lang="en-ID" sz="1100" dirty="0"/>
              <a:t> </a:t>
            </a:r>
            <a:r>
              <a:rPr lang="en-ID" sz="1100" dirty="0" err="1"/>
              <a:t>tingkat</a:t>
            </a:r>
            <a:r>
              <a:rPr lang="en-ID" sz="1100" dirty="0"/>
              <a:t> </a:t>
            </a:r>
            <a:r>
              <a:rPr lang="en-ID" sz="1100" dirty="0" err="1"/>
              <a:t>nyeri</a:t>
            </a:r>
            <a:r>
              <a:rPr lang="en-ID" sz="1100" dirty="0"/>
              <a:t>.</a:t>
            </a:r>
            <a:endParaRPr lang="en-US" sz="1100" dirty="0"/>
          </a:p>
        </p:txBody>
      </p:sp>
      <p:pic>
        <p:nvPicPr>
          <p:cNvPr id="27" name="Gambar 26" descr="Sebuah gambar berisi teks, cuplikan layar, diagram, Warna-warni">
            <a:extLst>
              <a:ext uri="{FF2B5EF4-FFF2-40B4-BE49-F238E27FC236}">
                <a16:creationId xmlns:a16="http://schemas.microsoft.com/office/drawing/2014/main" id="{28AC4C6F-F8B9-3F7D-EB7D-5568EA5F7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506462"/>
            <a:ext cx="5183034" cy="3390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59" y="201168"/>
            <a:ext cx="2767406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7" y="201168"/>
            <a:ext cx="22556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05.3  VISUALISASI — KUALITAS TIDUR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Kualitas Tidur &amp; Tingkat Nyeri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6"/>
          <p:cNvSpPr/>
          <p:nvPr/>
        </p:nvSpPr>
        <p:spPr>
          <a:xfrm>
            <a:off x="5705856" y="144475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87568" y="1531620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5687568" y="1531620"/>
            <a:ext cx="54864" cy="768096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5815584" y="15864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Gelembung terbesar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815584" y="18790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tidur 3 + nyeri 3 = 20 responden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87568" y="2464308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2"/>
          <p:cNvSpPr/>
          <p:nvPr/>
        </p:nvSpPr>
        <p:spPr>
          <a:xfrm>
            <a:off x="5687568" y="2464308"/>
            <a:ext cx="54864" cy="768096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5815584" y="25191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3 → nyeri 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15584" y="28117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responden masih merasakan nyeri tinggi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687568" y="3396996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5687568" y="3396996"/>
            <a:ext cx="54864" cy="768096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5815584" y="34518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4-5 lebih baik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815584" y="37444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nyeri cenderung lebih rendah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78424" y="4311396"/>
            <a:ext cx="3291840" cy="768096"/>
          </a:xfrm>
          <a:prstGeom prst="roundRect">
            <a:avLst>
              <a:gd name="adj" fmla="val 21739"/>
            </a:avLst>
          </a:prstGeom>
          <a:solidFill>
            <a:srgbClr val="EDD3E8">
              <a:alpha val="8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978" y="443941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17874" y="4402836"/>
            <a:ext cx="27432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</a:t>
            </a:r>
            <a:r>
              <a:rPr lang="en-US" sz="11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Kualitas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tidur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kurang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baik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cenderung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berkaitan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munculnya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Tingkat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tidur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berkualitas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berpotensi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membantu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mengurangi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keluhan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ea typeface="Calibri" pitchFamily="34" charset="-122"/>
                <a:cs typeface="Calibri" pitchFamily="34" charset="-120"/>
              </a:rPr>
              <a:t>nyeri</a:t>
            </a:r>
            <a:r>
              <a:rPr lang="en-US" sz="1050" dirty="0"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pic>
        <p:nvPicPr>
          <p:cNvPr id="27" name="Gambar 26" descr="Sebuah gambar berisi teks, cuplikan layar, diagram, lingkaran">
            <a:extLst>
              <a:ext uri="{FF2B5EF4-FFF2-40B4-BE49-F238E27FC236}">
                <a16:creationId xmlns:a16="http://schemas.microsoft.com/office/drawing/2014/main" id="{840894CB-CAD9-7253-4245-2DBE6B794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1" y="1531620"/>
            <a:ext cx="5175504" cy="341071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59" y="201168"/>
            <a:ext cx="25657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7" y="201168"/>
            <a:ext cx="21305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05.4  VISUALISASI — DURASI TIDUR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Durasi Tidur &amp; Tingkat Nyeri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6"/>
          <p:cNvSpPr/>
          <p:nvPr/>
        </p:nvSpPr>
        <p:spPr>
          <a:xfrm>
            <a:off x="5705856" y="144475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705856" y="1467613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5705856" y="1467613"/>
            <a:ext cx="54864" cy="7680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5833872" y="1522477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jam (n=62, 60,2%)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833872" y="181508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Nyeri 3 (25 org) &amp; nyeri 4 (19 org) — sel paling gelap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05856" y="2400301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2"/>
          <p:cNvSpPr/>
          <p:nvPr/>
        </p:nvSpPr>
        <p:spPr>
          <a:xfrm>
            <a:off x="5705856" y="2400301"/>
            <a:ext cx="54864" cy="7680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5833872" y="245516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 jam lebih baik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33872" y="2747773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lebih merata; nyeri 1 lebih banyak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05856" y="3332989"/>
            <a:ext cx="3291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5705856" y="3332989"/>
            <a:ext cx="54864" cy="768096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5833872" y="338785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 jam tidur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833872" y="368046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Berkaitan erat dengan nyeri level moderat–berat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705856" y="4210813"/>
            <a:ext cx="3291840" cy="697737"/>
          </a:xfrm>
          <a:prstGeom prst="roundRect">
            <a:avLst>
              <a:gd name="adj" fmla="val 21739"/>
            </a:avLst>
          </a:prstGeom>
          <a:solidFill>
            <a:srgbClr val="EDD3E8">
              <a:alpha val="80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33883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430225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7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Interpretasi: </a:t>
            </a:r>
            <a:r>
              <a:rPr lang="en-ID" sz="1100" dirty="0"/>
              <a:t>Tidur yang </a:t>
            </a:r>
            <a:r>
              <a:rPr lang="en-ID" sz="1100" dirty="0" err="1"/>
              <a:t>kurang</a:t>
            </a:r>
            <a:r>
              <a:rPr lang="en-ID" sz="1100" dirty="0"/>
              <a:t> optimal </a:t>
            </a:r>
            <a:r>
              <a:rPr lang="en-ID" sz="1100" dirty="0" err="1"/>
              <a:t>berhubungan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meningkatnya</a:t>
            </a:r>
            <a:r>
              <a:rPr lang="en-ID" sz="1100" dirty="0"/>
              <a:t> </a:t>
            </a:r>
            <a:r>
              <a:rPr lang="en-ID" sz="1100" dirty="0" err="1"/>
              <a:t>keluhan</a:t>
            </a:r>
            <a:r>
              <a:rPr lang="en-ID" sz="1100" dirty="0"/>
              <a:t> </a:t>
            </a:r>
            <a:r>
              <a:rPr lang="en-ID" sz="1100" dirty="0" err="1"/>
              <a:t>nyeri</a:t>
            </a:r>
            <a:r>
              <a:rPr lang="en-ID" sz="1100" dirty="0"/>
              <a:t>.</a:t>
            </a:r>
            <a:endParaRPr lang="en-US" sz="1100" dirty="0"/>
          </a:p>
        </p:txBody>
      </p:sp>
      <p:pic>
        <p:nvPicPr>
          <p:cNvPr id="27" name="Gambar 26" descr="Sebuah gambar berisi teks, cuplikan layar, Persegi, diagram">
            <a:extLst>
              <a:ext uri="{FF2B5EF4-FFF2-40B4-BE49-F238E27FC236}">
                <a16:creationId xmlns:a16="http://schemas.microsoft.com/office/drawing/2014/main" id="{903B316E-38DD-FCBE-4BFA-378BB1CAA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58" y="1463554"/>
            <a:ext cx="5193793" cy="343305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B3F7A">
              <a:alpha val="30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B06A9E">
              <a:alpha val="2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05.5  HASIL ANALISIS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Kita Temukan?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65760" y="1481328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475488" y="1746504"/>
            <a:ext cx="475488" cy="475488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379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57276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Nyeri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24128" y="1883664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38,8% nyeri sedang (lvl 3); 39,8% nyeri berat (lvl 4-5); hanya 8,7% tanpa nyeri berarti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77740" y="2171701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1"/>
          <p:cNvSpPr/>
          <p:nvPr/>
        </p:nvSpPr>
        <p:spPr>
          <a:xfrm>
            <a:off x="4887468" y="2436877"/>
            <a:ext cx="475488" cy="475488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908" y="2528317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36108" y="2263141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Olahraga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36108" y="2574037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hanya olahraga 1-2x/minggu. Olahraga lebih sering → distribusi nyeri lebih rendah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265176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5"/>
          <p:cNvSpPr/>
          <p:nvPr/>
        </p:nvSpPr>
        <p:spPr>
          <a:xfrm>
            <a:off x="475488" y="2916936"/>
            <a:ext cx="475488" cy="475488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0837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74320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24128" y="3054096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sering → nyeri lvl 4-5 lebih banyak. 31% responden makan fast food secara rutin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77740" y="3342133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19"/>
          <p:cNvSpPr/>
          <p:nvPr/>
        </p:nvSpPr>
        <p:spPr>
          <a:xfrm>
            <a:off x="4887468" y="3607309"/>
            <a:ext cx="475488" cy="475488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908" y="3698749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36108" y="3433573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Tidur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36108" y="3744469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Tidur berkualitas rendah berkaitan dengan nyeri lebih tinggi; kualitas 4-5 lebih protektif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65760" y="3822192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7B3F7A">
              <a:alpha val="45000"/>
            </a:srgbClr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3"/>
          <p:cNvSpPr/>
          <p:nvPr/>
        </p:nvSpPr>
        <p:spPr>
          <a:xfrm>
            <a:off x="475488" y="4087368"/>
            <a:ext cx="475488" cy="475488"/>
          </a:xfrm>
          <a:prstGeom prst="ellipse">
            <a:avLst/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17880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24128" y="391363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 Tidur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024128" y="422452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60,2% tidur hanya 5-6 jam/hari, berkaitan dengan nyeri moderat-berat lebih tinggi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TopRight"/>
          <p:cNvSpPr/>
          <p:nvPr/>
        </p:nvSpPr>
        <p:spPr>
          <a:xfrm>
            <a:off x="7620000" y="-457200"/>
            <a:ext cx="2200000" cy="2200000"/>
          </a:xfrm>
          <a:prstGeom prst="ellipse">
            <a:avLst/>
          </a:prstGeom>
          <a:solidFill>
            <a:srgbClr val="7B3F7A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ircleBottomLeft"/>
          <p:cNvSpPr/>
          <p:nvPr/>
        </p:nvSpPr>
        <p:spPr>
          <a:xfrm>
            <a:off x="-600000" y="3700000"/>
            <a:ext cx="1800000" cy="1800000"/>
          </a:xfrm>
          <a:prstGeom prst="ellipse">
            <a:avLst/>
          </a:prstGeom>
          <a:solidFill>
            <a:srgbClr val="B06A9E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/>
          <p:nvPr/>
        </p:nvSpPr>
        <p:spPr>
          <a:xfrm>
            <a:off x="304800" y="228600"/>
            <a:ext cx="1900000" cy="240000"/>
          </a:xfrm>
          <a:prstGeom prst="roundRect">
            <a:avLst/>
          </a:prstGeom>
          <a:solidFill>
            <a:srgbClr val="B06A9E"/>
          </a:solidFill>
          <a:ln>
            <a:noFill/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FFFFFF"/>
                </a:solidFill>
              </a:rPr>
              <a:t>06  KESIMPULAN</a:t>
            </a:r>
          </a:p>
        </p:txBody>
      </p:sp>
      <p:sp>
        <p:nvSpPr>
          <p:cNvPr id="5" name="Title"/>
          <p:cNvSpPr/>
          <p:nvPr/>
        </p:nvSpPr>
        <p:spPr>
          <a:xfrm>
            <a:off x="304800" y="510000"/>
            <a:ext cx="6000000" cy="420000"/>
          </a:xfrm>
          <a:prstGeom prst="rect">
            <a:avLst/>
          </a:prstGeom>
          <a:noFill/>
        </p:spPr>
        <p:txBody>
          <a:bodyPr/>
          <a:lstStyle/>
          <a:p>
            <a:r>
              <a:rPr lang="id-ID" sz="2800" b="1" dirty="0">
                <a:solidFill>
                  <a:srgbClr val="FFFFFF"/>
                </a:solidFill>
                <a:latin typeface="Georgia"/>
              </a:rPr>
              <a:t>Kesimpulan Survei</a:t>
            </a:r>
          </a:p>
        </p:txBody>
      </p:sp>
      <p:sp>
        <p:nvSpPr>
          <p:cNvPr id="6" name="DivLine"/>
          <p:cNvSpPr/>
          <p:nvPr/>
        </p:nvSpPr>
        <p:spPr>
          <a:xfrm>
            <a:off x="304800" y="949999"/>
            <a:ext cx="4343400" cy="45719"/>
          </a:xfrm>
          <a:prstGeom prst="rect">
            <a:avLst/>
          </a:prstGeom>
          <a:solidFill>
            <a:srgbClr val="B06A9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Num1"/>
          <p:cNvSpPr/>
          <p:nvPr/>
        </p:nvSpPr>
        <p:spPr>
          <a:xfrm>
            <a:off x="344400" y="1539400"/>
            <a:ext cx="228600" cy="228600"/>
          </a:xfrm>
          <a:prstGeom prst="ellipse">
            <a:avLst/>
          </a:prstGeom>
          <a:solidFill>
            <a:srgbClr val="7B3F7A"/>
          </a:solidFill>
          <a:ln>
            <a:noFill/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1"/>
          <p:cNvSpPr/>
          <p:nvPr/>
        </p:nvSpPr>
        <p:spPr>
          <a:xfrm>
            <a:off x="609600" y="1539400"/>
            <a:ext cx="3962400" cy="2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id-ID" sz="1200" dirty="0">
                <a:solidFill>
                  <a:srgbClr val="EDD3E8"/>
                </a:solidFill>
                <a:latin typeface="Georgia"/>
              </a:rPr>
              <a:t>Nyeri menstruasi merupakan kondisi umum yang dialami mahasiswi.</a:t>
            </a:r>
          </a:p>
        </p:txBody>
      </p:sp>
      <p:sp>
        <p:nvSpPr>
          <p:cNvPr id="9" name="Num2"/>
          <p:cNvSpPr/>
          <p:nvPr/>
        </p:nvSpPr>
        <p:spPr>
          <a:xfrm>
            <a:off x="344400" y="2019212"/>
            <a:ext cx="228600" cy="228600"/>
          </a:xfrm>
          <a:prstGeom prst="ellipse">
            <a:avLst/>
          </a:prstGeom>
          <a:solidFill>
            <a:srgbClr val="4A1942"/>
          </a:solidFill>
          <a:ln w="19050">
            <a:solidFill>
              <a:srgbClr val="7B3F7A"/>
            </a:solidFill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B06A9E"/>
                </a:solidFill>
              </a:rPr>
              <a:t>2</a:t>
            </a:r>
          </a:p>
        </p:txBody>
      </p:sp>
      <p:sp>
        <p:nvSpPr>
          <p:cNvPr id="10" name="Text2"/>
          <p:cNvSpPr/>
          <p:nvPr/>
        </p:nvSpPr>
        <p:spPr>
          <a:xfrm>
            <a:off x="609600" y="2019212"/>
            <a:ext cx="3962400" cy="2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id-ID" sz="1200" dirty="0">
                <a:solidFill>
                  <a:srgbClr val="EDD3E8"/>
                </a:solidFill>
                <a:latin typeface="Georgia"/>
              </a:rPr>
              <a:t>Tingkat nyeri menstruasi responden cenderung berada pada kategori sedang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hingga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berat</a:t>
            </a:r>
            <a:r>
              <a:rPr lang="id-ID" sz="1200" dirty="0">
                <a:solidFill>
                  <a:srgbClr val="EDD3E8"/>
                </a:solidFill>
                <a:latin typeface="Georgia"/>
              </a:rPr>
              <a:t>.</a:t>
            </a:r>
          </a:p>
        </p:txBody>
      </p:sp>
      <p:sp>
        <p:nvSpPr>
          <p:cNvPr id="11" name="Num3"/>
          <p:cNvSpPr/>
          <p:nvPr/>
        </p:nvSpPr>
        <p:spPr>
          <a:xfrm>
            <a:off x="344400" y="2475500"/>
            <a:ext cx="228600" cy="228600"/>
          </a:xfrm>
          <a:prstGeom prst="ellipse">
            <a:avLst/>
          </a:prstGeom>
          <a:solidFill>
            <a:srgbClr val="7B3F7A"/>
          </a:solidFill>
          <a:ln>
            <a:noFill/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3"/>
          <p:cNvSpPr/>
          <p:nvPr/>
        </p:nvSpPr>
        <p:spPr>
          <a:xfrm>
            <a:off x="609600" y="2476606"/>
            <a:ext cx="3962400" cy="2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id-ID" sz="1200" dirty="0">
                <a:solidFill>
                  <a:srgbClr val="EDD3E8"/>
                </a:solidFill>
                <a:latin typeface="Georgia"/>
              </a:rPr>
              <a:t>Pola hidup memiliki pengaruh terhadap tingkat nyeri menstruasi.</a:t>
            </a:r>
          </a:p>
        </p:txBody>
      </p:sp>
      <p:sp>
        <p:nvSpPr>
          <p:cNvPr id="13" name="Num4"/>
          <p:cNvSpPr/>
          <p:nvPr/>
        </p:nvSpPr>
        <p:spPr>
          <a:xfrm>
            <a:off x="341841" y="2931788"/>
            <a:ext cx="228600" cy="228600"/>
          </a:xfrm>
          <a:prstGeom prst="ellipse">
            <a:avLst/>
          </a:prstGeom>
          <a:solidFill>
            <a:srgbClr val="4A1942"/>
          </a:solidFill>
          <a:ln w="19050">
            <a:solidFill>
              <a:srgbClr val="7B3F7A"/>
            </a:solidFill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B06A9E"/>
                </a:solidFill>
              </a:rPr>
              <a:t>4</a:t>
            </a:r>
          </a:p>
        </p:txBody>
      </p:sp>
      <p:sp>
        <p:nvSpPr>
          <p:cNvPr id="14" name="Text4"/>
          <p:cNvSpPr/>
          <p:nvPr/>
        </p:nvSpPr>
        <p:spPr>
          <a:xfrm>
            <a:off x="609600" y="2931788"/>
            <a:ext cx="3962400" cy="2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id-ID" sz="1200" dirty="0">
                <a:solidFill>
                  <a:srgbClr val="EDD3E8"/>
                </a:solidFill>
                <a:latin typeface="Georgia"/>
              </a:rPr>
              <a:t>Pola makan menjadi faktor yang dianggap paling mempengaruhi nyeri menstruasi.</a:t>
            </a:r>
          </a:p>
        </p:txBody>
      </p:sp>
      <p:sp>
        <p:nvSpPr>
          <p:cNvPr id="15" name="VDiv"/>
          <p:cNvSpPr/>
          <p:nvPr/>
        </p:nvSpPr>
        <p:spPr>
          <a:xfrm flipH="1">
            <a:off x="4602481" y="1112635"/>
            <a:ext cx="45719" cy="2560194"/>
          </a:xfrm>
          <a:prstGeom prst="rect">
            <a:avLst/>
          </a:prstGeom>
          <a:solidFill>
            <a:srgbClr val="7B3F7A">
              <a:alpha val="5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um5"/>
          <p:cNvSpPr/>
          <p:nvPr/>
        </p:nvSpPr>
        <p:spPr>
          <a:xfrm>
            <a:off x="4802400" y="1647476"/>
            <a:ext cx="228600" cy="228600"/>
          </a:xfrm>
          <a:prstGeom prst="ellipse">
            <a:avLst/>
          </a:prstGeom>
          <a:solidFill>
            <a:srgbClr val="7B3F7A"/>
          </a:solidFill>
          <a:ln>
            <a:noFill/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5"/>
          <p:cNvSpPr/>
          <p:nvPr/>
        </p:nvSpPr>
        <p:spPr>
          <a:xfrm>
            <a:off x="5068800" y="1647476"/>
            <a:ext cx="3810000" cy="2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id-ID" sz="1200" dirty="0">
                <a:solidFill>
                  <a:srgbClr val="EDD3E8"/>
                </a:solidFill>
                <a:latin typeface="Georgia"/>
              </a:rPr>
              <a:t>Sebagian besar responden memiliki pola tidur yang belum optimal.</a:t>
            </a:r>
          </a:p>
        </p:txBody>
      </p:sp>
      <p:sp>
        <p:nvSpPr>
          <p:cNvPr id="18" name="Num6"/>
          <p:cNvSpPr/>
          <p:nvPr/>
        </p:nvSpPr>
        <p:spPr>
          <a:xfrm>
            <a:off x="4802400" y="2242732"/>
            <a:ext cx="228600" cy="228600"/>
          </a:xfrm>
          <a:prstGeom prst="ellipse">
            <a:avLst/>
          </a:prstGeom>
          <a:solidFill>
            <a:srgbClr val="4A1942"/>
          </a:solidFill>
          <a:ln w="19050">
            <a:solidFill>
              <a:srgbClr val="7B3F7A"/>
            </a:solidFill>
          </a:ln>
        </p:spPr>
        <p:txBody>
          <a:bodyPr anchor="ctr"/>
          <a:lstStyle/>
          <a:p>
            <a:pPr algn="ctr"/>
            <a:r>
              <a:rPr lang="id-ID" sz="900" b="1" dirty="0">
                <a:solidFill>
                  <a:srgbClr val="B06A9E"/>
                </a:solidFill>
              </a:rPr>
              <a:t>6</a:t>
            </a:r>
          </a:p>
        </p:txBody>
      </p:sp>
      <p:sp>
        <p:nvSpPr>
          <p:cNvPr id="19" name="Text6"/>
          <p:cNvSpPr/>
          <p:nvPr/>
        </p:nvSpPr>
        <p:spPr>
          <a:xfrm>
            <a:off x="5068800" y="2242732"/>
            <a:ext cx="3810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id-ID" sz="1200" dirty="0">
                <a:solidFill>
                  <a:srgbClr val="EDD3E8"/>
                </a:solidFill>
                <a:latin typeface="Georgia"/>
              </a:rPr>
              <a:t>Aktivitas olahraga secara rutin dinilai membantu mengurangi nyeri menstruasi.</a:t>
            </a:r>
          </a:p>
        </p:txBody>
      </p:sp>
      <p:sp>
        <p:nvSpPr>
          <p:cNvPr id="21" name="Footer"/>
          <p:cNvSpPr/>
          <p:nvPr/>
        </p:nvSpPr>
        <p:spPr>
          <a:xfrm>
            <a:off x="304800" y="4800000"/>
            <a:ext cx="8534400" cy="24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endParaRPr lang="id-ID" sz="800" dirty="0">
              <a:solidFill>
                <a:srgbClr val="9E6B9E"/>
              </a:solidFill>
            </a:endParaRPr>
          </a:p>
        </p:txBody>
      </p:sp>
      <p:sp>
        <p:nvSpPr>
          <p:cNvPr id="24" name="Num5">
            <a:extLst>
              <a:ext uri="{FF2B5EF4-FFF2-40B4-BE49-F238E27FC236}">
                <a16:creationId xmlns:a16="http://schemas.microsoft.com/office/drawing/2014/main" id="{F8B673D6-58DF-882F-E943-C5964243D6EE}"/>
              </a:ext>
            </a:extLst>
          </p:cNvPr>
          <p:cNvSpPr/>
          <p:nvPr/>
        </p:nvSpPr>
        <p:spPr>
          <a:xfrm>
            <a:off x="4802400" y="2815900"/>
            <a:ext cx="228600" cy="228600"/>
          </a:xfrm>
          <a:prstGeom prst="ellipse">
            <a:avLst/>
          </a:prstGeom>
          <a:solidFill>
            <a:srgbClr val="7B3F7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id-ID" sz="900" b="1" dirty="0">
              <a:solidFill>
                <a:srgbClr val="FFFFFF"/>
              </a:solidFill>
            </a:endParaRPr>
          </a:p>
        </p:txBody>
      </p:sp>
      <p:sp>
        <p:nvSpPr>
          <p:cNvPr id="26" name="Kotak Teks 25">
            <a:extLst>
              <a:ext uri="{FF2B5EF4-FFF2-40B4-BE49-F238E27FC236}">
                <a16:creationId xmlns:a16="http://schemas.microsoft.com/office/drawing/2014/main" id="{D09965BD-6AA0-4BCC-C53F-61FD58AC147C}"/>
              </a:ext>
            </a:extLst>
          </p:cNvPr>
          <p:cNvSpPr txBox="1"/>
          <p:nvPr/>
        </p:nvSpPr>
        <p:spPr>
          <a:xfrm>
            <a:off x="4976506" y="2686317"/>
            <a:ext cx="3994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EDD3E8"/>
                </a:solidFill>
                <a:latin typeface="Georgia"/>
              </a:rPr>
              <a:t>Penerapan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pola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hidup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sehat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seperti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menjaga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pola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makan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,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tidur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cukup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dan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olahraga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rutin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berpotensi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membantu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mengurangi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nyeri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 </a:t>
            </a:r>
            <a:r>
              <a:rPr lang="en-US" sz="1200" dirty="0" err="1">
                <a:solidFill>
                  <a:srgbClr val="EDD3E8"/>
                </a:solidFill>
                <a:latin typeface="Georgia"/>
              </a:rPr>
              <a:t>menstruasi</a:t>
            </a:r>
            <a:r>
              <a:rPr lang="en-US" sz="1200" dirty="0">
                <a:solidFill>
                  <a:srgbClr val="EDD3E8"/>
                </a:solidFill>
                <a:latin typeface="Georgia"/>
              </a:rPr>
              <a:t>.</a:t>
            </a:r>
            <a:endParaRPr lang="id-ID" sz="1200" dirty="0">
              <a:solidFill>
                <a:srgbClr val="EDD3E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REKOMENDASI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Langkah Nyata untuk Mahasiswi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65760" y="1481328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502920" y="1627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5029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160934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Olahraga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1993392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3-4x/minggu: yoga, jogging, atau senam ringan — lepaskan endorfin alami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481328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4892040" y="1627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B06A9E"/>
          </a:solidFill>
          <a:ln w="12700">
            <a:solidFill>
              <a:srgbClr val="B06A9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48920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59552" y="160934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Fast Food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59552" y="1993392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Perbanyak buah, sayur, dan makanan anti-inflamasi untuk menekan prostaglandin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145536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502920" y="3291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5029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70432" y="32735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Tidur Cukup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70432" y="3657600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7-8 jam/malam; jaga rutinitas tidur konsisten untuk regulasi hormonal optimal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3145536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2"/>
          <p:cNvSpPr/>
          <p:nvPr/>
        </p:nvSpPr>
        <p:spPr>
          <a:xfrm>
            <a:off x="4892040" y="3291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3"/>
          <p:cNvSpPr/>
          <p:nvPr/>
        </p:nvSpPr>
        <p:spPr>
          <a:xfrm>
            <a:off x="48920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59552" y="32735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Stres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59552" y="3657600"/>
            <a:ext cx="3218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relaksasi (meditasi, pernapasan dalam) untuk mengurangi sensitivitas nyeri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EDD3E8">
              <a:alpha val="7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EDD3E8">
              <a:alpha val="60000"/>
            </a:srgbClr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B3F7A"/>
          </a:solidFill>
          <a:ln w="12700">
            <a:solidFill>
              <a:srgbClr val="7B3F7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68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01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DAFTAR PUSTAKA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Referensi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EDD3E8"/>
          </a:solidFill>
          <a:ln w="12700">
            <a:solidFill>
              <a:srgbClr val="EDD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365760" y="1481328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365760" y="1481328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93776" y="1554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Armour et al. (2019). Exercise for dysmenorrhoea. Cochrane Database Syst Rev, (9).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28600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365760" y="2286000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493776" y="23591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Bernardi et al. (2017). Dysmenorrhea and related disorders. F1000Research, 6.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090672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3"/>
          <p:cNvSpPr/>
          <p:nvPr/>
        </p:nvSpPr>
        <p:spPr>
          <a:xfrm>
            <a:off x="365760" y="3090672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493776" y="31638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Dehnavi et al. (2018). Effect of aerobic exercise on dysmenorrhea. J Educ Health Promot, 7(3).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895344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365760" y="3895344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493776" y="3968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Gagua et al. (2012). Primary dysmenorrhea: prevalence &amp; risk factors. JTGGA, 13(3).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1481328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19"/>
          <p:cNvSpPr/>
          <p:nvPr/>
        </p:nvSpPr>
        <p:spPr>
          <a:xfrm>
            <a:off x="4754880" y="1481328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0"/>
          <p:cNvSpPr/>
          <p:nvPr/>
        </p:nvSpPr>
        <p:spPr>
          <a:xfrm>
            <a:off x="4882896" y="1554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Iacovides et al. (2015). What we know about primary dysmenorrhea. Hum Reprod Update, 21(6).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228600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2"/>
          <p:cNvSpPr/>
          <p:nvPr/>
        </p:nvSpPr>
        <p:spPr>
          <a:xfrm>
            <a:off x="4754880" y="2286000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3"/>
          <p:cNvSpPr/>
          <p:nvPr/>
        </p:nvSpPr>
        <p:spPr>
          <a:xfrm>
            <a:off x="4882896" y="23591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Kemenkes RI. (2021). Pedoman Nasional Tata Laksana Dismenore. Jakarta.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3090672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5"/>
          <p:cNvSpPr/>
          <p:nvPr/>
        </p:nvSpPr>
        <p:spPr>
          <a:xfrm>
            <a:off x="4754880" y="3090672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6"/>
          <p:cNvSpPr/>
          <p:nvPr/>
        </p:nvSpPr>
        <p:spPr>
          <a:xfrm>
            <a:off x="4882896" y="31638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Purwandari &amp; Wahyuningsih. (2020). Pola makan &amp; dismenore primer. J Keperawatan Indonesia, 23(1).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3895344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D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8"/>
          <p:cNvSpPr/>
          <p:nvPr/>
        </p:nvSpPr>
        <p:spPr>
          <a:xfrm>
            <a:off x="4754880" y="3895344"/>
            <a:ext cx="54864" cy="713232"/>
          </a:xfrm>
          <a:prstGeom prst="rect">
            <a:avLst/>
          </a:prstGeom>
          <a:solidFill>
            <a:srgbClr val="7B3F7A"/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4882896" y="3968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Yusuf et al. (2022). Faktor gaya hidup &amp; dismenore primer. J Kesehatan Reproduksi, 9(2).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B3F7A">
              <a:alpha val="30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B06A9E">
              <a:alpha val="2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2743200" y="457200"/>
            <a:ext cx="3840480" cy="3840480"/>
          </a:xfrm>
          <a:prstGeom prst="ellipse">
            <a:avLst/>
          </a:prstGeom>
          <a:solidFill>
            <a:srgbClr val="7B3F7A">
              <a:alpha val="45000"/>
            </a:srgbClr>
          </a:solidFill>
          <a:ln w="12700">
            <a:solidFill>
              <a:srgbClr val="7B3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200400" y="822960"/>
            <a:ext cx="2926080" cy="2926080"/>
          </a:xfrm>
          <a:prstGeom prst="ellipse">
            <a:avLst/>
          </a:prstGeom>
          <a:solidFill>
            <a:srgbClr val="B06A9E">
              <a:alpha val="45000"/>
            </a:srgbClr>
          </a:solidFill>
          <a:ln w="12700">
            <a:solidFill>
              <a:srgbClr val="B06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hidup sehat dimulai dari pilihan kecil sehari-hari.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|  Survei Pola Hidup &amp; Nyeri Menstruasi  | 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1398</Words>
  <Application>Microsoft Office PowerPoint</Application>
  <PresentationFormat>Peragaan Layar (16:9)</PresentationFormat>
  <Paragraphs>233</Paragraphs>
  <Slides>16</Slides>
  <Notes>15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Georgia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Pengaruh Pola Hidup terhadap Tingkat Nyeri Menstruasi</dc:title>
  <dc:subject>PptxGenJS Presentation</dc:subject>
  <dc:creator>PptxGenJS</dc:creator>
  <cp:lastModifiedBy>ASUS</cp:lastModifiedBy>
  <cp:revision>13</cp:revision>
  <dcterms:created xsi:type="dcterms:W3CDTF">2026-05-17T15:32:49Z</dcterms:created>
  <dcterms:modified xsi:type="dcterms:W3CDTF">2026-06-21T08:37:27Z</dcterms:modified>
</cp:coreProperties>
</file>